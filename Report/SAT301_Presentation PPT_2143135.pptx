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sldIdLst>
    <p:sldId id="262" r:id="rId2"/>
    <p:sldId id="258" r:id="rId3"/>
    <p:sldId id="268" r:id="rId4"/>
    <p:sldId id="259" r:id="rId5"/>
    <p:sldId id="269" r:id="rId6"/>
    <p:sldId id="270" r:id="rId7"/>
    <p:sldId id="271" r:id="rId8"/>
    <p:sldId id="264" r:id="rId9"/>
    <p:sldId id="272" r:id="rId10"/>
    <p:sldId id="265" r:id="rId11"/>
    <p:sldId id="266" r:id="rId12"/>
    <p:sldId id="267" r:id="rId13"/>
    <p:sldId id="261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D1EF"/>
    <a:srgbClr val="CCECFF"/>
    <a:srgbClr val="3366CC"/>
    <a:srgbClr val="B0C9EE"/>
    <a:srgbClr val="956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0" autoAdjust="0"/>
    <p:restoredTop sz="55894" autoAdjust="0"/>
  </p:normalViewPr>
  <p:slideViewPr>
    <p:cSldViewPr>
      <p:cViewPr varScale="1">
        <p:scale>
          <a:sx n="47" d="100"/>
          <a:sy n="47" d="100"/>
        </p:scale>
        <p:origin x="229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 Pengfei" userId="7f752051bca9af46" providerId="LiveId" clId="{499147C0-C54D-4CDE-8069-0244B5DC30CA}"/>
    <pc:docChg chg="custSel delSld modSld">
      <pc:chgData name="Song Pengfei" userId="7f752051bca9af46" providerId="LiveId" clId="{499147C0-C54D-4CDE-8069-0244B5DC30CA}" dt="2021-10-04T06:44:43.627" v="95" actId="20577"/>
      <pc:docMkLst>
        <pc:docMk/>
      </pc:docMkLst>
      <pc:sldChg chg="modSp mod">
        <pc:chgData name="Song Pengfei" userId="7f752051bca9af46" providerId="LiveId" clId="{499147C0-C54D-4CDE-8069-0244B5DC30CA}" dt="2021-10-04T06:42:04.322" v="1" actId="5793"/>
        <pc:sldMkLst>
          <pc:docMk/>
          <pc:sldMk cId="0" sldId="258"/>
        </pc:sldMkLst>
        <pc:spChg chg="mod">
          <ac:chgData name="Song Pengfei" userId="7f752051bca9af46" providerId="LiveId" clId="{499147C0-C54D-4CDE-8069-0244B5DC30CA}" dt="2021-10-04T06:42:04.322" v="1" actId="5793"/>
          <ac:spMkLst>
            <pc:docMk/>
            <pc:sldMk cId="0" sldId="258"/>
            <ac:spMk id="4099" creationId="{00000000-0000-0000-0000-000000000000}"/>
          </ac:spMkLst>
        </pc:spChg>
      </pc:sldChg>
      <pc:sldChg chg="del">
        <pc:chgData name="Song Pengfei" userId="7f752051bca9af46" providerId="LiveId" clId="{499147C0-C54D-4CDE-8069-0244B5DC30CA}" dt="2021-10-04T06:41:52.853" v="0" actId="47"/>
        <pc:sldMkLst>
          <pc:docMk/>
          <pc:sldMk cId="3948800467" sldId="259"/>
        </pc:sldMkLst>
      </pc:sldChg>
      <pc:sldChg chg="modSp mod">
        <pc:chgData name="Song Pengfei" userId="7f752051bca9af46" providerId="LiveId" clId="{499147C0-C54D-4CDE-8069-0244B5DC30CA}" dt="2021-10-04T06:44:43.627" v="95" actId="20577"/>
        <pc:sldMkLst>
          <pc:docMk/>
          <pc:sldMk cId="4134212713" sldId="261"/>
        </pc:sldMkLst>
        <pc:spChg chg="mod">
          <ac:chgData name="Song Pengfei" userId="7f752051bca9af46" providerId="LiveId" clId="{499147C0-C54D-4CDE-8069-0244B5DC30CA}" dt="2021-10-04T06:44:43.627" v="95" actId="20577"/>
          <ac:spMkLst>
            <pc:docMk/>
            <pc:sldMk cId="4134212713" sldId="261"/>
            <ac:spMk id="3" creationId="{00000000-0000-0000-0000-000000000000}"/>
          </ac:spMkLst>
        </pc:spChg>
      </pc:sldChg>
      <pc:sldChg chg="del">
        <pc:chgData name="Song Pengfei" userId="7f752051bca9af46" providerId="LiveId" clId="{499147C0-C54D-4CDE-8069-0244B5DC30CA}" dt="2021-10-04T06:42:08.351" v="2" actId="47"/>
        <pc:sldMkLst>
          <pc:docMk/>
          <pc:sldMk cId="292324697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81E6E-2626-4711-B03C-FFCF25DAA2F8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AA6F4-B574-4030-A81C-559EA08C08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393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431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699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454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053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395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866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3957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847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674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725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790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20BEBC-ABB0-43CC-8E6F-1CDEE8D380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641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0032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1350">
              <a:ea typeface="SimSun" pitchFamily="2" charset="-122"/>
            </a:endParaRPr>
          </a:p>
        </p:txBody>
      </p:sp>
      <p:pic>
        <p:nvPicPr>
          <p:cNvPr id="5" name="Picture 21" descr="Logo and Title Whit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5445127"/>
            <a:ext cx="4205288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6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683568" y="2286000"/>
            <a:ext cx="8231832" cy="11430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dirty="0"/>
              <a:t>Click to edit Master title style</a:t>
            </a: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3131840" y="3573016"/>
            <a:ext cx="3352800" cy="17526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6684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57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360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8889" y="1844675"/>
            <a:ext cx="3595687" cy="38163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6976" y="1844675"/>
            <a:ext cx="3597275" cy="38163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12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34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42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062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552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70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70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9901" y="260352"/>
            <a:ext cx="1852613" cy="540067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8888" y="260352"/>
            <a:ext cx="5408612" cy="540067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32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58889" y="260350"/>
            <a:ext cx="74136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58888" y="1844675"/>
            <a:ext cx="7345362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0" y="0"/>
            <a:ext cx="755650" cy="6858000"/>
          </a:xfrm>
          <a:prstGeom prst="rect">
            <a:avLst/>
          </a:prstGeom>
          <a:solidFill>
            <a:srgbClr val="0032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8"/>
          <p:cNvSpPr>
            <a:spLocks noChangeArrowheads="1"/>
          </p:cNvSpPr>
          <p:nvPr userDrawn="1"/>
        </p:nvSpPr>
        <p:spPr bwMode="auto">
          <a:xfrm>
            <a:off x="395289" y="0"/>
            <a:ext cx="215900" cy="6858000"/>
          </a:xfrm>
          <a:prstGeom prst="rect">
            <a:avLst/>
          </a:prstGeom>
          <a:gradFill rotWithShape="1">
            <a:gsLst>
              <a:gs pos="0">
                <a:srgbClr val="AED1EF">
                  <a:alpha val="70000"/>
                </a:srgbClr>
              </a:gs>
              <a:gs pos="100000">
                <a:srgbClr val="51616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 rot="-5400000">
            <a:off x="4464050" y="-3195637"/>
            <a:ext cx="215900" cy="9144000"/>
          </a:xfrm>
          <a:prstGeom prst="rect">
            <a:avLst/>
          </a:prstGeom>
          <a:gradFill rotWithShape="1">
            <a:gsLst>
              <a:gs pos="0">
                <a:srgbClr val="AED1EF">
                  <a:alpha val="60001"/>
                </a:srgbClr>
              </a:gs>
              <a:gs pos="100000">
                <a:srgbClr val="51616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pic>
        <p:nvPicPr>
          <p:cNvPr id="1031" name="Picture 13" descr="Logo and Titl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6" y="5876925"/>
            <a:ext cx="265906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1247791" y="5931842"/>
            <a:ext cx="46085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accent2"/>
                </a:solidFill>
              </a:rPr>
              <a:t>SAT301 Final Year Project</a:t>
            </a:r>
          </a:p>
        </p:txBody>
      </p:sp>
    </p:spTree>
    <p:extLst>
      <p:ext uri="{BB962C8B-B14F-4D97-AF65-F5344CB8AC3E}">
        <p14:creationId xmlns:p14="http://schemas.microsoft.com/office/powerpoint/2010/main" val="165400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Arial" charset="0"/>
          <a:ea typeface="ＭＳ Ｐゴシック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Arial" charset="0"/>
          <a:ea typeface="ＭＳ Ｐゴシック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Arial" charset="0"/>
          <a:ea typeface="ＭＳ Ｐゴシック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Arial" charset="0"/>
          <a:ea typeface="ＭＳ Ｐゴシック" pitchFamily="34" charset="-128"/>
        </a:defRPr>
      </a:lvl5pPr>
      <a:lvl6pPr marL="342900" algn="l" rtl="0" fontAlgn="base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Arial" charset="0"/>
          <a:ea typeface="ＭＳ Ｐゴシック" pitchFamily="34" charset="-128"/>
        </a:defRPr>
      </a:lvl6pPr>
      <a:lvl7pPr marL="685800" algn="l" rtl="0" fontAlgn="base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Arial" charset="0"/>
          <a:ea typeface="ＭＳ Ｐゴシック" pitchFamily="34" charset="-128"/>
        </a:defRPr>
      </a:lvl7pPr>
      <a:lvl8pPr marL="1028700" algn="l" rtl="0" fontAlgn="base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Arial" charset="0"/>
          <a:ea typeface="ＭＳ Ｐゴシック" pitchFamily="34" charset="-128"/>
        </a:defRPr>
      </a:lvl8pPr>
      <a:lvl9pPr marL="1371600" algn="l" rtl="0" fontAlgn="base">
        <a:spcBef>
          <a:spcPct val="0"/>
        </a:spcBef>
        <a:spcAft>
          <a:spcPct val="0"/>
        </a:spcAft>
        <a:defRPr sz="2250">
          <a:solidFill>
            <a:schemeClr val="accent2"/>
          </a:solidFill>
          <a:latin typeface="Arial" charset="0"/>
          <a:ea typeface="ＭＳ Ｐゴシック" pitchFamily="34" charset="-128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q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200">
          <a:solidFill>
            <a:schemeClr val="tx1"/>
          </a:solidFill>
          <a:latin typeface="+mn-lt"/>
          <a:ea typeface="+mn-ea"/>
        </a:defRPr>
      </a:lvl2pPr>
      <a:lvl3pPr marL="900113" indent="-2143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105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defRPr sz="9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defRPr sz="75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defRPr sz="75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defRPr sz="75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defRPr sz="75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defRPr sz="75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5676" y="2571750"/>
            <a:ext cx="6173874" cy="548640"/>
          </a:xfrm>
        </p:spPr>
        <p:txBody>
          <a:bodyPr/>
          <a:lstStyle/>
          <a:p>
            <a:pPr algn="ctr"/>
            <a:r>
              <a:rPr lang="en-US" altLang="zh-CN" dirty="0"/>
              <a:t>License Plate Recognition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85313" y="3537012"/>
            <a:ext cx="2514600" cy="810090"/>
          </a:xfrm>
        </p:spPr>
        <p:txBody>
          <a:bodyPr/>
          <a:lstStyle/>
          <a:p>
            <a:pPr algn="ctr"/>
            <a:r>
              <a:rPr lang="en-US" sz="1800" dirty="0" err="1"/>
              <a:t>J</a:t>
            </a:r>
            <a:r>
              <a:rPr lang="en-US" altLang="zh-CN" sz="1800" dirty="0" err="1"/>
              <a:t>iamin</a:t>
            </a:r>
            <a:r>
              <a:rPr lang="en-US" altLang="zh-CN" sz="1800" dirty="0"/>
              <a:t> Jiang</a:t>
            </a:r>
            <a:endParaRPr lang="en-US" sz="1800" dirty="0"/>
          </a:p>
          <a:p>
            <a:pPr algn="ctr"/>
            <a:r>
              <a:rPr lang="en-US" sz="1800" dirty="0"/>
              <a:t>Xiaobo Jin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 sz="2700" b="1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Content</a:t>
            </a:r>
            <a:r>
              <a:rPr kumimoji="1" lang="zh-CN" altLang="en-US" sz="2700" b="1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：</a:t>
            </a:r>
            <a:endParaRPr lang="en-US" altLang="zh-CN" sz="255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kumimoji="1" lang="en-US" altLang="zh-CN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1. Introduction</a:t>
            </a:r>
            <a:r>
              <a:rPr kumimoji="1" lang="zh-CN" altLang="en-US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 </a:t>
            </a:r>
            <a:endParaRPr kumimoji="1" lang="en-US" altLang="zh-CN" sz="1650" dirty="0">
              <a:solidFill>
                <a:srgbClr val="000066"/>
              </a:solidFill>
              <a:latin typeface="Arial Black" pitchFamily="34" charset="0"/>
              <a:ea typeface="创艺繁黑体"/>
              <a:cs typeface="创艺繁黑体"/>
            </a:endParaRPr>
          </a:p>
          <a:p>
            <a:pPr>
              <a:defRPr/>
            </a:pPr>
            <a:r>
              <a:rPr kumimoji="1" lang="en-US" altLang="zh-CN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2. Project Objective and Aims</a:t>
            </a:r>
          </a:p>
          <a:p>
            <a:pPr>
              <a:defRPr/>
            </a:pPr>
            <a:r>
              <a:rPr kumimoji="1" lang="en-US" altLang="zh-CN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3. Project Budget and Schedule</a:t>
            </a:r>
          </a:p>
          <a:p>
            <a:pPr>
              <a:defRPr/>
            </a:pPr>
            <a:r>
              <a:rPr kumimoji="1" lang="en-US" altLang="zh-CN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4. Methodology</a:t>
            </a:r>
          </a:p>
          <a:p>
            <a:pPr>
              <a:defRPr/>
            </a:pPr>
            <a:r>
              <a:rPr kumimoji="1" lang="en-US" altLang="zh-CN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5. Experimental Results</a:t>
            </a:r>
          </a:p>
          <a:p>
            <a:pPr>
              <a:defRPr/>
            </a:pPr>
            <a:r>
              <a:rPr kumimoji="1" lang="en-US" altLang="zh-CN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6. Discussion</a:t>
            </a:r>
          </a:p>
          <a:p>
            <a:pPr>
              <a:defRPr/>
            </a:pPr>
            <a:r>
              <a:rPr kumimoji="1" lang="en-US" altLang="zh-CN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7. Future Works</a:t>
            </a:r>
          </a:p>
          <a:p>
            <a:pPr>
              <a:defRPr/>
            </a:pPr>
            <a:r>
              <a:rPr kumimoji="1" lang="en-US" altLang="zh-CN" sz="165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8. Conclusion</a:t>
            </a:r>
          </a:p>
          <a:p>
            <a:pPr marL="0" indent="0">
              <a:buNone/>
              <a:defRPr/>
            </a:pPr>
            <a:r>
              <a:rPr kumimoji="1" lang="en-US" altLang="zh-CN" sz="150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 </a:t>
            </a:r>
          </a:p>
          <a:p>
            <a:pPr>
              <a:defRPr/>
            </a:pPr>
            <a:endParaRPr kumimoji="1" lang="en-US" altLang="zh-CN" dirty="0">
              <a:solidFill>
                <a:srgbClr val="000066"/>
              </a:solidFill>
              <a:latin typeface="Arial Black" pitchFamily="34" charset="0"/>
              <a:ea typeface="创艺繁黑体"/>
              <a:cs typeface="创艺繁黑体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2A2117A-72E7-DCD1-F454-465E49BD9F94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2</a:t>
            </a:fld>
            <a:endParaRPr lang="zh-CN" altLang="en-US" sz="15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D8F1F-2C36-07C8-ABBC-8EB8C3D2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Introduction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6C9F70-E5C0-FEDE-C20C-AFF2F02F4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50" dirty="0"/>
              <a:t>Intelligent transportation: ETC</a:t>
            </a:r>
            <a:r>
              <a:rPr lang="zh-CN" altLang="en-US" sz="1650" dirty="0"/>
              <a:t>、 </a:t>
            </a:r>
            <a:r>
              <a:rPr lang="en-US" altLang="zh-CN" sz="1650" dirty="0"/>
              <a:t>parking lot</a:t>
            </a:r>
          </a:p>
          <a:p>
            <a:endParaRPr lang="en-US" altLang="zh-CN" sz="1650" dirty="0"/>
          </a:p>
          <a:p>
            <a:r>
              <a:rPr lang="en-US" altLang="zh-CN" sz="1650" dirty="0"/>
              <a:t>Existing main technologies: </a:t>
            </a:r>
          </a:p>
          <a:p>
            <a:r>
              <a:rPr lang="en-US" altLang="zh-CN" sz="1650" b="1" dirty="0"/>
              <a:t>- Traditional technologies relying on OpenCV</a:t>
            </a:r>
          </a:p>
          <a:p>
            <a:r>
              <a:rPr lang="en-US" altLang="zh-CN" sz="1650" dirty="0"/>
              <a:t>- Two stage method of deep learning</a:t>
            </a:r>
          </a:p>
          <a:p>
            <a:r>
              <a:rPr lang="en-US" altLang="zh-CN" sz="1650" dirty="0"/>
              <a:t>- End to end integrated approach</a:t>
            </a:r>
            <a:endParaRPr lang="zh-CN" altLang="en-US" sz="165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88EFD-213F-4959-B6DE-DE4C6BF62D0A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3</a:t>
            </a:fld>
            <a:endParaRPr lang="zh-CN" altLang="en-US" sz="15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04065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6EF61-A7FC-2467-835D-3E800B73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Project Objective and Aims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3FF009-53B0-E9B5-4009-B602DAD1A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50" dirty="0"/>
              <a:t>Develop an efficient and accurate License Plate Recognition (LPR) system using OpenCV and</a:t>
            </a:r>
            <a:r>
              <a:rPr lang="zh-CN" altLang="en-US" sz="1650" dirty="0"/>
              <a:t> </a:t>
            </a:r>
            <a:r>
              <a:rPr lang="en-US" altLang="zh-CN" sz="1650" dirty="0"/>
              <a:t>SVM. </a:t>
            </a:r>
          </a:p>
          <a:p>
            <a:pPr marL="0" indent="0">
              <a:buNone/>
            </a:pPr>
            <a:endParaRPr lang="en-US" altLang="zh-CN" sz="1650" dirty="0"/>
          </a:p>
          <a:p>
            <a:r>
              <a:rPr lang="en-US" altLang="zh-CN" sz="1650" dirty="0"/>
              <a:t>To implement this system, it is necessary to divide the system into the following modules:</a:t>
            </a:r>
          </a:p>
          <a:p>
            <a:r>
              <a:rPr lang="en-US" altLang="zh-CN" sz="1650" dirty="0"/>
              <a:t>Image Preprocessing</a:t>
            </a:r>
          </a:p>
          <a:p>
            <a:r>
              <a:rPr lang="en-US" altLang="zh-CN" sz="1650" dirty="0"/>
              <a:t>License Plate Location</a:t>
            </a:r>
          </a:p>
          <a:p>
            <a:r>
              <a:rPr lang="en-US" altLang="zh-CN" sz="1650" dirty="0"/>
              <a:t>Character Segmentation</a:t>
            </a:r>
          </a:p>
          <a:p>
            <a:r>
              <a:rPr lang="en-US" altLang="zh-CN" sz="1650" dirty="0"/>
              <a:t>Character Recognition</a:t>
            </a:r>
            <a:endParaRPr lang="zh-CN" altLang="en-US" sz="1650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72C1F40-0C9A-3A72-E4B9-FC383EAACD9B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4</a:t>
            </a:fld>
            <a:endParaRPr lang="zh-CN" altLang="en-US" sz="15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4880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77C95-4EA8-7661-7AC9-589C4913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Project Budget and Schedule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262A2-1606-9D54-04DC-A8441742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50" dirty="0"/>
              <a:t>Budget:</a:t>
            </a:r>
          </a:p>
          <a:p>
            <a:r>
              <a:rPr lang="en-US" altLang="zh-CN" sz="1500" dirty="0"/>
              <a:t>- Minimal computing resources</a:t>
            </a:r>
          </a:p>
          <a:p>
            <a:r>
              <a:rPr lang="en-US" altLang="zh-CN" sz="1500" dirty="0"/>
              <a:t>- No need for high-end GPUs</a:t>
            </a:r>
          </a:p>
          <a:p>
            <a:r>
              <a:rPr lang="en-US" altLang="zh-CN" sz="1500" dirty="0"/>
              <a:t>- Purchase PyCharm activation code</a:t>
            </a:r>
          </a:p>
          <a:p>
            <a:r>
              <a:rPr lang="en-US" altLang="zh-CN" sz="1500" dirty="0"/>
              <a:t>- Researching existing algorithms</a:t>
            </a:r>
          </a:p>
          <a:p>
            <a:endParaRPr lang="en-US" altLang="zh-CN" sz="1500" dirty="0"/>
          </a:p>
          <a:p>
            <a:r>
              <a:rPr lang="en-US" altLang="zh-CN" sz="1650" dirty="0"/>
              <a:t>Schedule Adjustments:</a:t>
            </a:r>
          </a:p>
          <a:p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CA05CD-437C-C059-DE23-FEC93106B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510" y="2057831"/>
            <a:ext cx="2702286" cy="15911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52AB52-2B68-FF3F-1FC2-7B7F8DF00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510" y="3671888"/>
            <a:ext cx="2702286" cy="1614056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434A4-0DF9-75DC-ABD2-D1176D293C0D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5</a:t>
            </a:fld>
            <a:endParaRPr lang="zh-CN" altLang="en-US" sz="15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813935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8A504-C475-5564-0BCE-8630C442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Methodology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4E6751-7F8E-7183-AE35-78B5538ED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50" dirty="0"/>
              <a:t>1️⃣ </a:t>
            </a:r>
            <a:r>
              <a:rPr lang="en-US" altLang="zh-CN" sz="1650" b="1" dirty="0"/>
              <a:t>Image Preprocessing</a:t>
            </a:r>
          </a:p>
          <a:p>
            <a:r>
              <a:rPr lang="en-US" altLang="zh-CN" sz="1650" dirty="0"/>
              <a:t>- Gaussian blurring</a:t>
            </a:r>
          </a:p>
          <a:p>
            <a:r>
              <a:rPr lang="en-US" altLang="zh-CN" sz="1650" dirty="0"/>
              <a:t>- Morphological operations</a:t>
            </a:r>
          </a:p>
          <a:p>
            <a:r>
              <a:rPr lang="en-US" altLang="zh-CN" sz="1650" dirty="0"/>
              <a:t>- Convert images to grayscale.  </a:t>
            </a:r>
          </a:p>
          <a:p>
            <a:r>
              <a:rPr lang="en-US" altLang="zh-CN" sz="1650" dirty="0"/>
              <a:t>- Canny edge detection</a:t>
            </a:r>
          </a:p>
          <a:p>
            <a:r>
              <a:rPr lang="en-US" altLang="zh-CN" sz="1650" dirty="0"/>
              <a:t>2️⃣ </a:t>
            </a:r>
            <a:r>
              <a:rPr lang="en-US" altLang="zh-CN" sz="1650" b="1" dirty="0"/>
              <a:t>License Plate Positioning</a:t>
            </a:r>
          </a:p>
          <a:p>
            <a:r>
              <a:rPr lang="en-US" altLang="zh-CN" sz="1650" dirty="0"/>
              <a:t>- Contour detection</a:t>
            </a:r>
          </a:p>
          <a:p>
            <a:r>
              <a:rPr lang="en-US" altLang="zh-CN" sz="1650" dirty="0"/>
              <a:t>- Color space analysis (HSV)</a:t>
            </a:r>
          </a:p>
          <a:p>
            <a:r>
              <a:rPr lang="en-US" altLang="zh-CN" sz="1650" dirty="0"/>
              <a:t>- Rotational correction</a:t>
            </a:r>
          </a:p>
          <a:p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EC43617-8E3B-6678-3957-EA2FE14FEC7E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6</a:t>
            </a:fld>
            <a:endParaRPr lang="zh-CN" altLang="en-US" sz="15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33757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C4CA2-AB34-DB4F-889A-1F6060C7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Methodology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C8DBAC-0A8F-FC2D-998D-CD863E83F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50" dirty="0"/>
              <a:t>3️⃣ </a:t>
            </a:r>
            <a:r>
              <a:rPr lang="en-US" altLang="zh-CN" sz="1650" b="1" dirty="0"/>
              <a:t>Character Segmentation</a:t>
            </a:r>
          </a:p>
          <a:p>
            <a:r>
              <a:rPr lang="en-US" altLang="zh-CN" sz="1650" dirty="0"/>
              <a:t>- Histogram-based wave detection</a:t>
            </a:r>
          </a:p>
          <a:p>
            <a:r>
              <a:rPr lang="en-US" altLang="zh-CN" sz="1650" dirty="0"/>
              <a:t>- Peak detection</a:t>
            </a:r>
          </a:p>
          <a:p>
            <a:r>
              <a:rPr lang="en-US" altLang="zh-CN" sz="1650" dirty="0"/>
              <a:t>- Projection methods</a:t>
            </a:r>
          </a:p>
          <a:p>
            <a:r>
              <a:rPr lang="en-US" altLang="zh-CN" sz="1650" dirty="0"/>
              <a:t>4️⃣ </a:t>
            </a:r>
            <a:r>
              <a:rPr lang="en-US" altLang="zh-CN" sz="1650" b="1" dirty="0"/>
              <a:t>Character Recognition</a:t>
            </a:r>
          </a:p>
          <a:p>
            <a:r>
              <a:rPr lang="en-US" altLang="zh-CN" sz="1650" dirty="0"/>
              <a:t>- SVM model</a:t>
            </a:r>
          </a:p>
          <a:p>
            <a:r>
              <a:rPr lang="en-US" altLang="zh-CN" sz="1650" dirty="0"/>
              <a:t>- HOG (Histogram of Oriented Gradients)  </a:t>
            </a:r>
          </a:p>
          <a:p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9A98AD8-4892-AE37-3B55-C3C29EC47372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7</a:t>
            </a:fld>
            <a:endParaRPr lang="zh-CN" altLang="en-US" sz="15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21333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69A92-5B3B-4A3D-B9D1-990EB6FF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Experimental Results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9F03F4-EB3B-C4D0-E909-E7E5C134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50" dirty="0"/>
              <a:t>Current Results:</a:t>
            </a:r>
          </a:p>
          <a:p>
            <a:r>
              <a:rPr lang="en-US" altLang="zh-CN" sz="1500" dirty="0"/>
              <a:t>- Locate license plates</a:t>
            </a:r>
          </a:p>
          <a:p>
            <a:r>
              <a:rPr lang="en-US" altLang="zh-CN" sz="1500" dirty="0"/>
              <a:t>- Split characters</a:t>
            </a:r>
          </a:p>
          <a:p>
            <a:r>
              <a:rPr lang="en-US" altLang="zh-CN" sz="1500" dirty="0"/>
              <a:t>- Character recognition</a:t>
            </a:r>
          </a:p>
          <a:p>
            <a:r>
              <a:rPr lang="en-US" altLang="zh-CN" sz="1500" dirty="0"/>
              <a:t>- Identify license plate color</a:t>
            </a: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18D944F-48E7-0AC5-2953-38BE53BD8B27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8</a:t>
            </a:fld>
            <a:endParaRPr lang="zh-CN" altLang="en-US" sz="1500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D62B09-1356-302F-EAA8-C25C560987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0"/>
          <a:stretch/>
        </p:blipFill>
        <p:spPr>
          <a:xfrm>
            <a:off x="4399930" y="2240757"/>
            <a:ext cx="4115420" cy="258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9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43835-FA66-AE12-14A5-90424450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Experimental Results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B8B4F0-26F5-F115-1DC6-64046DB1F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32993" y="1988993"/>
            <a:ext cx="3482357" cy="1683687"/>
          </a:xfrm>
        </p:spPr>
      </p:pic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9527E4B4-0221-052E-EC1A-5A2C3B328421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9</a:t>
            </a:fld>
            <a:endParaRPr lang="zh-CN" altLang="en-US" sz="1500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051075A-0AE2-7FE7-806E-B020A8CE8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5" y="3820452"/>
            <a:ext cx="4357494" cy="13854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BAF4153-6E10-044D-8BA5-9D32B6E25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20453"/>
            <a:ext cx="4541996" cy="1385435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8E49F45-0187-BE35-D707-03705AB065CF}"/>
              </a:ext>
            </a:extLst>
          </p:cNvPr>
          <p:cNvSpPr txBox="1">
            <a:spLocks/>
          </p:cNvSpPr>
          <p:nvPr/>
        </p:nvSpPr>
        <p:spPr bwMode="auto">
          <a:xfrm>
            <a:off x="1258888" y="2240756"/>
            <a:ext cx="7345362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</a:defRPr>
            </a:lvl2pPr>
            <a:lvl3pPr marL="12001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57175" indent="-257175" defTabSz="685800"/>
            <a:r>
              <a:rPr lang="en-US" altLang="zh-CN" sz="1650" kern="0" dirty="0">
                <a:solidFill>
                  <a:srgbClr val="000000"/>
                </a:solidFill>
                <a:latin typeface="Arial"/>
                <a:ea typeface="ＭＳ Ｐゴシック"/>
              </a:rPr>
              <a:t>Challenges Identified:</a:t>
            </a:r>
          </a:p>
          <a:p>
            <a:pPr marL="257175" indent="-257175" defTabSz="685800"/>
            <a:r>
              <a:rPr lang="en-US" altLang="zh-CN" sz="1500" kern="0" dirty="0">
                <a:solidFill>
                  <a:srgbClr val="000000"/>
                </a:solidFill>
                <a:latin typeface="Arial"/>
                <a:ea typeface="ＭＳ Ｐゴシック"/>
              </a:rPr>
              <a:t>- Similar-looking characters</a:t>
            </a:r>
          </a:p>
          <a:p>
            <a:pPr marL="257175" indent="-257175" defTabSz="685800"/>
            <a:r>
              <a:rPr lang="en-US" altLang="zh-CN" sz="1500" kern="0" dirty="0">
                <a:solidFill>
                  <a:srgbClr val="000000"/>
                </a:solidFill>
                <a:latin typeface="Arial"/>
                <a:ea typeface="ＭＳ Ｐゴシック"/>
              </a:rPr>
              <a:t>- The environment is too dark or bright</a:t>
            </a:r>
          </a:p>
          <a:p>
            <a:pPr marL="257175" indent="-257175" defTabSz="685800"/>
            <a:r>
              <a:rPr lang="en-US" altLang="zh-CN" sz="1500" kern="0" dirty="0">
                <a:solidFill>
                  <a:srgbClr val="000000"/>
                </a:solidFill>
                <a:latin typeface="Arial"/>
                <a:ea typeface="ＭＳ Ｐゴシック"/>
              </a:rPr>
              <a:t>- Tilt shooting angle</a:t>
            </a:r>
            <a:endParaRPr lang="zh-CN" altLang="en-US" sz="1500" kern="0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89172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7E406-B628-9B6B-2947-5C52AA892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Discussion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DD5175-B3CD-04FF-0E18-37F5BDDAD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50" b="1" dirty="0"/>
              <a:t>Pros of This Approach:</a:t>
            </a:r>
          </a:p>
          <a:p>
            <a:r>
              <a:rPr lang="en-US" altLang="zh-CN" sz="1650" dirty="0"/>
              <a:t>- Lightweight: low computational load, fast computing speed - low cost</a:t>
            </a:r>
          </a:p>
          <a:p>
            <a:r>
              <a:rPr lang="en-US" altLang="zh-CN" sz="1650" dirty="0"/>
              <a:t>- Easier to debug: Clear feature extraction</a:t>
            </a:r>
          </a:p>
          <a:p>
            <a:endParaRPr lang="en-US" altLang="zh-CN" sz="1650" dirty="0"/>
          </a:p>
          <a:p>
            <a:r>
              <a:rPr lang="en-US" altLang="zh-CN" sz="1650" b="1" dirty="0"/>
              <a:t>Limitations:</a:t>
            </a:r>
          </a:p>
          <a:p>
            <a:r>
              <a:rPr lang="en-US" altLang="zh-CN" sz="1650" dirty="0"/>
              <a:t>- Poor generalization ability: relying on manual parameter tuning</a:t>
            </a:r>
          </a:p>
          <a:p>
            <a:r>
              <a:rPr lang="en-US" altLang="zh-CN" sz="1650" dirty="0"/>
              <a:t>- Poor robustness complex environments: limited accuracy in character recognition in complex environments</a:t>
            </a:r>
            <a:endParaRPr lang="zh-CN" altLang="en-US" sz="1650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DBED784-31EA-F901-5529-452C4D798EE7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10</a:t>
            </a:fld>
            <a:endParaRPr lang="zh-CN" altLang="en-US" sz="15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345882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F9060-A90F-C29E-6D79-0143BE75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Future Works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1A3CA-35DA-5B6B-4255-01A32FABD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50" dirty="0"/>
              <a:t>To improve the system:  </a:t>
            </a:r>
          </a:p>
          <a:p>
            <a:r>
              <a:rPr lang="en-US" altLang="zh-CN" sz="1650" dirty="0"/>
              <a:t>- Upgrade license plate detection algorithm (YOLOv7 tiny, PP-YOLOE)</a:t>
            </a:r>
          </a:p>
          <a:p>
            <a:r>
              <a:rPr lang="en-US" altLang="zh-CN" sz="1650" dirty="0"/>
              <a:t>- Improve character recognition </a:t>
            </a:r>
            <a:r>
              <a:rPr lang="en-US" altLang="zh-CN" sz="1650"/>
              <a:t>(CRNN, </a:t>
            </a:r>
            <a:r>
              <a:rPr lang="en-US" altLang="zh-CN" sz="1650" dirty="0"/>
              <a:t>Transformer based model)</a:t>
            </a:r>
          </a:p>
          <a:p>
            <a:r>
              <a:rPr lang="en-US" altLang="zh-CN" sz="1650" dirty="0"/>
              <a:t>- Adopt an end-to-end model (YOLOv7+CNN)</a:t>
            </a:r>
            <a:endParaRPr lang="zh-CN" altLang="en-US" sz="1650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157534A-5628-5D4B-966C-1DB075006760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50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11</a:t>
            </a:fld>
            <a:endParaRPr lang="zh-CN" altLang="en-US" sz="15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82819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5EEF2-C4E3-B883-11F0-26527F5D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66"/>
                </a:solidFill>
                <a:latin typeface="Arial Black" pitchFamily="34" charset="0"/>
                <a:ea typeface="创艺繁黑体"/>
                <a:cs typeface="创艺繁黑体"/>
              </a:rPr>
              <a:t>Conclusion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74D7A-32D4-3CC3-5BCF-B9DDFC5E2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500" dirty="0"/>
              <a:t>Classic computer vision (OpenCV)</a:t>
            </a:r>
          </a:p>
          <a:p>
            <a:r>
              <a:rPr lang="en-US" altLang="zh-CN" sz="1500" dirty="0"/>
              <a:t>Machine learning (SVM + HOG features)</a:t>
            </a:r>
          </a:p>
          <a:p>
            <a:endParaRPr lang="en-US" altLang="zh-CN" sz="1500" dirty="0"/>
          </a:p>
          <a:p>
            <a:r>
              <a:rPr lang="en-US" altLang="zh-CN" sz="1500" dirty="0"/>
              <a:t>Lightweight &amp; fast</a:t>
            </a:r>
          </a:p>
          <a:p>
            <a:r>
              <a:rPr lang="en-US" altLang="zh-CN" sz="1500" dirty="0"/>
              <a:t>Low computing needs</a:t>
            </a:r>
          </a:p>
          <a:p>
            <a:endParaRPr lang="en-US" altLang="zh-CN" sz="1650" dirty="0"/>
          </a:p>
          <a:p>
            <a:r>
              <a:rPr lang="en-US" altLang="zh-CN" sz="1650" dirty="0"/>
              <a:t>Best For</a:t>
            </a:r>
          </a:p>
          <a:p>
            <a:r>
              <a:rPr lang="en-US" altLang="zh-CN" sz="1650" dirty="0"/>
              <a:t>- Teaching demonstrations</a:t>
            </a:r>
          </a:p>
          <a:p>
            <a:r>
              <a:rPr lang="en-US" altLang="zh-CN" sz="1650" dirty="0"/>
              <a:t>- Simple applications</a:t>
            </a:r>
          </a:p>
          <a:p>
            <a:r>
              <a:rPr lang="en-US" altLang="zh-CN" sz="1650" dirty="0"/>
              <a:t>- Low-power devices</a:t>
            </a:r>
            <a:endParaRPr lang="zh-CN" altLang="en-US" sz="1650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844417F-D775-A9F3-EBA9-D15A6194C69D}"/>
              </a:ext>
            </a:extLst>
          </p:cNvPr>
          <p:cNvSpPr txBox="1">
            <a:spLocks/>
          </p:cNvSpPr>
          <p:nvPr/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800" fontAlgn="auto">
              <a:spcBef>
                <a:spcPts val="0"/>
              </a:spcBef>
              <a:spcAft>
                <a:spcPts val="0"/>
              </a:spcAft>
            </a:pPr>
            <a:fld id="{0A295380-0023-432C-972E-6F5F2B664945}" type="slidenum">
              <a:rPr lang="zh-CN" altLang="en-US" sz="1350">
                <a:solidFill>
                  <a:srgbClr val="000000"/>
                </a:solidFill>
                <a:latin typeface="Arial"/>
                <a:ea typeface="ＭＳ Ｐゴシック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</a:pPr>
              <a:t>12</a:t>
            </a:fld>
            <a:endParaRPr lang="zh-CN" altLang="en-US" sz="135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89329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/>
          <p:cNvSpPr>
            <a:spLocks noChangeArrowheads="1"/>
          </p:cNvSpPr>
          <p:nvPr/>
        </p:nvSpPr>
        <p:spPr bwMode="auto">
          <a:xfrm>
            <a:off x="2195514" y="2619375"/>
            <a:ext cx="5022056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685800" eaLnBrk="1" hangingPunct="1"/>
            <a:r>
              <a:rPr lang="en-US" altLang="zh-CN" sz="7200" b="1" dirty="0">
                <a:solidFill>
                  <a:srgbClr val="FFFFFF"/>
                </a:solidFill>
              </a:rPr>
              <a:t>Thank You</a:t>
            </a:r>
          </a:p>
          <a:p>
            <a:pPr algn="ctr" defTabSz="685800" eaLnBrk="1" hangingPunct="1"/>
            <a:r>
              <a:rPr lang="en-US" altLang="zh-CN" sz="4500" b="1" dirty="0">
                <a:solidFill>
                  <a:srgbClr val="FFFFFF"/>
                </a:solidFill>
              </a:rPr>
              <a:t>Question?</a:t>
            </a:r>
            <a:endParaRPr lang="zh-CN" altLang="en-US" sz="45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ank Presentation">
  <a:themeElements>
    <a:clrScheme name="Blank Presentation 13">
      <a:dk1>
        <a:srgbClr val="000000"/>
      </a:dk1>
      <a:lt1>
        <a:srgbClr val="FFFFFF"/>
      </a:lt1>
      <a:dk2>
        <a:srgbClr val="9567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9567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405</Words>
  <Application>Microsoft Office PowerPoint</Application>
  <PresentationFormat>全屏显示(4:3)</PresentationFormat>
  <Paragraphs>114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SimSun</vt:lpstr>
      <vt:lpstr>Arial</vt:lpstr>
      <vt:lpstr>Arial Black</vt:lpstr>
      <vt:lpstr>Wingdings</vt:lpstr>
      <vt:lpstr>1_Blank Presentation</vt:lpstr>
      <vt:lpstr>License Plate Recognition</vt:lpstr>
      <vt:lpstr>Content：</vt:lpstr>
      <vt:lpstr>Introduction</vt:lpstr>
      <vt:lpstr>Project Objective and Aims</vt:lpstr>
      <vt:lpstr>Project Budget and Schedule</vt:lpstr>
      <vt:lpstr>Methodology</vt:lpstr>
      <vt:lpstr>Methodology</vt:lpstr>
      <vt:lpstr>Experimental Results</vt:lpstr>
      <vt:lpstr>Experimental Results</vt:lpstr>
      <vt:lpstr>Discussion</vt:lpstr>
      <vt:lpstr>Future Works</vt:lpstr>
      <vt:lpstr>Conclusion</vt:lpstr>
      <vt:lpstr>PowerPoint 演示文稿</vt:lpstr>
    </vt:vector>
  </TitlesOfParts>
  <Company>Krusty Morris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Krusty Morris</dc:creator>
  <cp:lastModifiedBy>佳敏 蒋</cp:lastModifiedBy>
  <cp:revision>30</cp:revision>
  <dcterms:created xsi:type="dcterms:W3CDTF">2007-01-16T13:11:17Z</dcterms:created>
  <dcterms:modified xsi:type="dcterms:W3CDTF">2025-03-30T03:16:47Z</dcterms:modified>
</cp:coreProperties>
</file>